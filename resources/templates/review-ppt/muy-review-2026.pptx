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6" r:id="rId16"/>
    <p:sldMasterId id="2147483750" r:id="rId17"/>
  </p:sldMasterIdLst>
  <p:notesMasterIdLst>
    <p:notesMasterId r:id="rId23"/>
  </p:notesMasterIdLst>
  <p:sldIdLst>
    <p:sldId id="2147483612" r:id="rId18"/>
    <p:sldId id="2147483607" r:id="rId19"/>
    <p:sldId id="2147483608" r:id="rId20"/>
    <p:sldId id="2147483609" r:id="rId21"/>
    <p:sldId id="2147483610" r:id="rId22"/>
  </p:sldIdLst>
  <p:sldSz cx="12192000" cy="6858000"/>
  <p:notesSz cx="6858000" cy="9144000"/>
  <p:custDataLst>
    <p:custData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AFAD16-9205-037C-FBC2-FF7D3E90A609}" name="Govind Dhami (IN)" initials="GD" userId="S::govind.dhami@pwc.com::54f23465-c19c-4c00-b834-114f90cc05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  <a:srgbClr val="FEA67E"/>
    <a:srgbClr val="F6F4AA"/>
    <a:srgbClr val="FFEE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14T09:47:49.206"/>
    <p1510:client id="{049DF310-B472-4802-A52B-392D26D4F263}" v="985" dt="2026-09-15T02:41:43.379"/>
    <p1510:client id="{1911A6B4-CEAF-40D0-A9C4-BCAC7F343583}" v="274" dt="2026-09-15T05:05:12.817"/>
    <p1510:client id="{457F1877-7A68-4F18-9BE2-AE580AA4BA82}" v="1832" dt="2026-09-15T05:21:02.611"/>
    <p1510:client id="{9A33AB84-3013-481D-A6F8-AFAAA7FE09E9}" v="225" dt="2026-09-14T11:47:10.195"/>
    <p1510:client id="{D69B8E44-3706-4AF6-9740-E0BFEC374E28}" v="291" dt="2026-09-14T11:44:20.698"/>
    <p1510:client id="{F8C919F3-3E12-4E5F-A3D8-123885645440}" v="262" dt="2026-09-14T12:14:56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4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0" Type="http://schemas.openxmlformats.org/officeDocument/2006/relationships/slide" Target="slides/slide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customXml" Target="../customXml/item10.xml"/><Relationship Id="rId19" Type="http://schemas.openxmlformats.org/officeDocument/2006/relationships/slide" Target="slides/slide2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5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95CB0-E085-439A-A6D1-6C3A9F8B002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F9CAF-C2B0-4FA9-AF89-CCDF23003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1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61BA-FCF5-7F2A-FE66-986AFB467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8E29A-D65A-BC14-DCD0-0D8F5A7E9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DFC38-247F-A1D3-EB5F-F78EA284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2BDC3-5BEB-0B0B-0779-AA2E8DE1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DF6E5-1C76-A869-B4AB-3589E711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3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BACE-20EF-F827-7E3C-CFF0EC29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8060A-22AF-FE0A-339E-EA149A91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0B1D0-6C53-E0E9-2069-51A2CEE3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43FA3-9E9B-D08D-8167-89447463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AF59F-3E90-E782-08EB-F400CA6B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4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5643-AAD9-967F-2DFB-AFC778E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30006-B627-3C82-0A60-BC7445363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2D5D3-9E4A-3B12-F352-DEE09748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E6A7C-000E-9D34-4119-08D2C456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6E184-209D-A6A1-BE24-8B399683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8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7244-E6C3-61DF-9035-FAFABE6A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8362B-232C-B57B-C910-579FA7DD6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F3D4B-40E0-EFFF-3530-486D1DE4C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B7334-9CA8-402A-8FBB-6C0FE04C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B099-1F16-9506-74DB-A4F2CD64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49037-6319-FAD6-2935-BC73FCCA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5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2D68-6466-B8D9-25A7-55660EC6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2D3F7-68BF-69FD-F5B1-AEF59C11B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905B-0C2A-8B84-CC15-DF82E2D70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0FB1D-7F26-19F3-8238-D42686569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A14B5-4192-A71D-7010-3F4536CE5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2C73F-F6AB-662A-898C-914551F99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32A9D-7BE8-5B18-A88C-779E15AC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FD16C-ADD3-EF7B-C062-F1BEB632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81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5CE0-0FF3-B5F2-53FE-02CD74FB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FBCAE-2071-98BD-1D6E-119CD515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F4C3C-ABF3-95D8-2345-F8A4B300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EEBB7-4735-7088-C84E-CEFCBC08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6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5E14B-AB5E-6709-8814-E24CB7C0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96990-3272-EF20-6E52-C35EC8EC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F53F4-C385-B4E2-680D-8042AEB0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3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75A8-046C-C803-F4A1-266E6D75D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7B975-A559-4062-F8C3-C8A99EE5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B3EEB-3A55-EEA2-F11A-BC3DA105C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CE6BC-BE52-1E8D-0FC4-FEF4DE0E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3FC71-6E17-5D78-66C4-A401B121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76990-7F11-6F53-7FE7-53E84483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70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36DC-9DD1-1354-AD31-26F03A90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B9B7B-6891-A0D1-F881-990529B77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42992-2773-AB29-54A8-F64DEB74E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E6431-E771-2056-4582-49D12765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395FA-438F-38AD-760E-D9DF09F1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9B3AF-CD25-4E0E-9DAE-7D4B0460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1C80-B0C4-B001-3E8B-22B4255E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43A82-2CCA-37B6-1918-D35AFE26C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8C06-EB49-467D-E713-EF054A4B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039B-2825-EC26-B904-7ED683D8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4A1F-2DB2-5EF3-052B-6C88411C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0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FD30BF-3312-4677-BB63-AE1ADEF99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02B36-2148-CD7F-46AD-CA2750434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3BE38-D532-AA38-47C8-3FEBBC25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2F1BC-F451-3F9D-54C3-D69C59E8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96009-6B70-AEA2-511B-E1434C57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5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55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BEBF0BA-06C7-4DD5-AF1F-E9CD0ACC41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2580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2" progId="TCLayout.ActiveDocument.1">
                  <p:embed/>
                </p:oleObj>
              </mc:Choice>
              <mc:Fallback>
                <p:oleObj name="think-cell Slide" r:id="rId3" imgW="532" imgH="532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BEBF0BA-06C7-4DD5-AF1F-E9CD0ACC41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Google Shape;32;p39"/>
          <p:cNvSpPr txBox="1">
            <a:spLocks noGrp="1"/>
          </p:cNvSpPr>
          <p:nvPr>
            <p:ph type="dt" idx="10"/>
          </p:nvPr>
        </p:nvSpPr>
        <p:spPr>
          <a:xfrm>
            <a:off x="9753600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858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Dark">
  <p:cSld name="Thank You Dar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0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0"/>
          <p:cNvSpPr txBox="1">
            <a:spLocks noGrp="1"/>
          </p:cNvSpPr>
          <p:nvPr>
            <p:ph type="body" idx="1"/>
          </p:nvPr>
        </p:nvSpPr>
        <p:spPr>
          <a:xfrm>
            <a:off x="442912" y="5259600"/>
            <a:ext cx="11306176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3296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Footer">
  <p:cSld name="Blank No Foot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1"/>
          <p:cNvSpPr>
            <a:spLocks noGrp="1"/>
          </p:cNvSpPr>
          <p:nvPr>
            <p:ph type="pic" idx="2"/>
          </p:nvPr>
        </p:nvSpPr>
        <p:spPr>
          <a:xfrm>
            <a:off x="5916613" y="0"/>
            <a:ext cx="5832476" cy="6858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Google Shape;42;p41"/>
          <p:cNvSpPr txBox="1">
            <a:spLocks noGrp="1"/>
          </p:cNvSpPr>
          <p:nvPr>
            <p:ph type="ctrTitle"/>
          </p:nvPr>
        </p:nvSpPr>
        <p:spPr>
          <a:xfrm>
            <a:off x="442913" y="1780818"/>
            <a:ext cx="519588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eorgia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subTitle" idx="1"/>
          </p:nvPr>
        </p:nvSpPr>
        <p:spPr>
          <a:xfrm>
            <a:off x="442913" y="4072026"/>
            <a:ext cx="4814887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4" name="Google Shape;4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5026" y="221873"/>
            <a:ext cx="1636776" cy="1351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1621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Quote 1 Image Orange">
  <p:cSld name="1_Quote 1 Image Orang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>
            <a:spLocks noGrp="1"/>
          </p:cNvSpPr>
          <p:nvPr>
            <p:ph type="pic" idx="2"/>
          </p:nvPr>
        </p:nvSpPr>
        <p:spPr>
          <a:xfrm>
            <a:off x="914400" y="0"/>
            <a:ext cx="5002213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9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3"/>
          <p:cNvSpPr txBox="1"/>
          <p:nvPr/>
        </p:nvSpPr>
        <p:spPr>
          <a:xfrm>
            <a:off x="-18131" y="142653"/>
            <a:ext cx="12204034" cy="931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40000" tIns="90000" rIns="90000" bIns="9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None/>
            </a:pPr>
            <a:endParaRPr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 txBox="1">
            <a:spLocks noGrp="1"/>
          </p:cNvSpPr>
          <p:nvPr>
            <p:ph type="title"/>
          </p:nvPr>
        </p:nvSpPr>
        <p:spPr>
          <a:xfrm>
            <a:off x="436896" y="392911"/>
            <a:ext cx="113061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83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2AF2E19-66A1-4E5E-916C-2A108A72B0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4256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2" progId="TCLayout.ActiveDocument.1">
                  <p:embed/>
                </p:oleObj>
              </mc:Choice>
              <mc:Fallback>
                <p:oleObj name="think-cell Slide" r:id="rId3" imgW="532" imgH="532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2AF2E19-66A1-4E5E-916C-2A108A72B0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1AA7B938-0E3B-4898-B00F-E06229EB8B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hidden">
          <a:xfrm>
            <a:off x="0" y="0"/>
            <a:ext cx="5832476" cy="6858000"/>
          </a:xfrm>
          <a:solidFill>
            <a:srgbClr val="DEDEDE"/>
          </a:solidFill>
        </p:spPr>
        <p:txBody>
          <a:bodyPr anchor="ctr" anchorCtr="0"/>
          <a:lstStyle>
            <a:lvl1pPr algn="ctr"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0" name="Google Shape;141;p4">
            <a:extLst>
              <a:ext uri="{FF2B5EF4-FFF2-40B4-BE49-F238E27FC236}">
                <a16:creationId xmlns:a16="http://schemas.microsoft.com/office/drawing/2014/main" id="{AD0720FD-753F-4DA3-BB5E-A14537F79DB9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xfrm>
            <a:off x="9753600" y="6492240"/>
            <a:ext cx="1764792" cy="137160"/>
          </a:xfrm>
        </p:spPr>
        <p:txBody>
          <a:bodyPr/>
          <a:lstStyle/>
          <a:p>
            <a:pPr lvl="0"/>
            <a:r>
              <a:rPr lang="en-US"/>
              <a:t>April 2023</a:t>
            </a:r>
          </a:p>
        </p:txBody>
      </p:sp>
      <p:sp>
        <p:nvSpPr>
          <p:cNvPr id="11" name="Google Shape;140;p4">
            <a:extLst>
              <a:ext uri="{FF2B5EF4-FFF2-40B4-BE49-F238E27FC236}">
                <a16:creationId xmlns:a16="http://schemas.microsoft.com/office/drawing/2014/main" id="{06D98E0A-D9EB-42C0-B6C5-C4CAAC7D50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</p:spPr>
        <p:txBody>
          <a:bodyPr/>
          <a:lstStyle/>
          <a:p>
            <a:pPr lvl="0"/>
            <a:fld id="{00000000-1234-1234-1234-123412341234}" type="slidenum">
              <a:rPr lang="en-US"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4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Footer" userDrawn="1">
  <p:cSld name="2_Blank No Foo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2">
            <a:extLst>
              <a:ext uri="{FF2B5EF4-FFF2-40B4-BE49-F238E27FC236}">
                <a16:creationId xmlns:a16="http://schemas.microsoft.com/office/drawing/2014/main" id="{ADA14235-A941-48E6-877B-045C2A611F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</p:spPr>
        <p:txBody>
          <a:bodyPr/>
          <a:lstStyle/>
          <a:p>
            <a:pPr lvl="0"/>
            <a:fld id="{00000000-1234-1234-1234-123412341234}" type="slidenum">
              <a:rPr lang="en-US"/>
              <a:pPr lvl="0"/>
              <a:t>‹#›</a:t>
            </a:fld>
            <a:endParaRPr lang="en-US"/>
          </a:p>
        </p:txBody>
      </p:sp>
      <p:sp>
        <p:nvSpPr>
          <p:cNvPr id="3" name="Google Shape;76;p2">
            <a:extLst>
              <a:ext uri="{FF2B5EF4-FFF2-40B4-BE49-F238E27FC236}">
                <a16:creationId xmlns:a16="http://schemas.microsoft.com/office/drawing/2014/main" id="{FD00EDA5-8132-4EBE-BE58-65294EFE9F4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9753600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2023</a:t>
            </a:r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EBA9064-B2E8-47CE-8187-A29C17CA63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hidden">
          <a:xfrm>
            <a:off x="6096000" y="0"/>
            <a:ext cx="6096000" cy="6858000"/>
          </a:xfrm>
          <a:solidFill>
            <a:srgbClr val="DEDEDE"/>
          </a:solidFill>
        </p:spPr>
        <p:txBody>
          <a:bodyPr anchor="ctr" anchorCtr="0"/>
          <a:lstStyle>
            <a:lvl1pPr algn="ctr">
              <a:spcAft>
                <a:spcPts val="12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4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5"/>
          <p:cNvSpPr txBox="1">
            <a:spLocks noGrp="1"/>
          </p:cNvSpPr>
          <p:nvPr>
            <p:ph type="sldNum" idx="12"/>
          </p:nvPr>
        </p:nvSpPr>
        <p:spPr>
          <a:xfrm>
            <a:off x="11327130" y="6400800"/>
            <a:ext cx="421959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67"/>
            </a:lvl1pPr>
            <a:lvl2pPr marL="0" lvl="1" indent="0" algn="r">
              <a:spcBef>
                <a:spcPts val="0"/>
              </a:spcBef>
              <a:buNone/>
              <a:defRPr sz="1467"/>
            </a:lvl2pPr>
            <a:lvl3pPr marL="0" lvl="2" indent="0" algn="r">
              <a:spcBef>
                <a:spcPts val="0"/>
              </a:spcBef>
              <a:buNone/>
              <a:defRPr sz="1467"/>
            </a:lvl3pPr>
            <a:lvl4pPr marL="0" lvl="3" indent="0" algn="r">
              <a:spcBef>
                <a:spcPts val="0"/>
              </a:spcBef>
              <a:buNone/>
              <a:defRPr sz="1467"/>
            </a:lvl4pPr>
            <a:lvl5pPr marL="0" lvl="4" indent="0" algn="r">
              <a:spcBef>
                <a:spcPts val="0"/>
              </a:spcBef>
              <a:buNone/>
              <a:defRPr sz="1467"/>
            </a:lvl5pPr>
            <a:lvl6pPr marL="0" lvl="5" indent="0" algn="r">
              <a:spcBef>
                <a:spcPts val="0"/>
              </a:spcBef>
              <a:buNone/>
              <a:defRPr sz="1467"/>
            </a:lvl6pPr>
            <a:lvl7pPr marL="0" lvl="6" indent="0" algn="r">
              <a:spcBef>
                <a:spcPts val="0"/>
              </a:spcBef>
              <a:buNone/>
              <a:defRPr sz="1467"/>
            </a:lvl7pPr>
            <a:lvl8pPr marL="0" lvl="7" indent="0" algn="r">
              <a:spcBef>
                <a:spcPts val="0"/>
              </a:spcBef>
              <a:buNone/>
              <a:defRPr sz="1467"/>
            </a:lvl8pPr>
            <a:lvl9pPr marL="0" lvl="8" indent="0" algn="r">
              <a:spcBef>
                <a:spcPts val="0"/>
              </a:spcBef>
              <a:buNone/>
              <a:defRPr sz="1467"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46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" sz="14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7524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2_Title Only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2ba60ae931_2_1311"/>
          <p:cNvSpPr txBox="1">
            <a:spLocks noGrp="1"/>
          </p:cNvSpPr>
          <p:nvPr>
            <p:ph type="title"/>
          </p:nvPr>
        </p:nvSpPr>
        <p:spPr>
          <a:xfrm>
            <a:off x="442914" y="432001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421" name="Google Shape;421;g22ba60ae931_2_1311"/>
          <p:cNvSpPr txBox="1">
            <a:spLocks noGrp="1"/>
          </p:cNvSpPr>
          <p:nvPr>
            <p:ph type="sldNum" idx="12"/>
          </p:nvPr>
        </p:nvSpPr>
        <p:spPr>
          <a:xfrm>
            <a:off x="8218490" y="6492241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38100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Full Content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0514"/>
            <a:ext cx="11306175" cy="5029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6D22B17-E9E9-3842-A116-5C0D59C56C8F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442912" y="933433"/>
            <a:ext cx="11306176" cy="885842"/>
          </a:xfrm>
        </p:spPr>
        <p:txBody>
          <a:bodyPr/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3" y="2103438"/>
            <a:ext cx="11306175" cy="406876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Presentation Footer">
            <a:extLst>
              <a:ext uri="{FF2B5EF4-FFF2-40B4-BE49-F238E27FC236}">
                <a16:creationId xmlns:a16="http://schemas.microsoft.com/office/drawing/2014/main" id="{C0A96048-10F2-4224-818D-5BECEE16847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2" y="6355080"/>
            <a:ext cx="5473701" cy="137160"/>
          </a:xfrm>
        </p:spPr>
        <p:txBody>
          <a:bodyPr/>
          <a:lstStyle/>
          <a:p>
            <a:pPr algn="l"/>
            <a:r>
              <a:rPr lang="en-US"/>
              <a:t>Presentation Title</a:t>
            </a: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C1F41BA3-BD4F-444B-8A48-A3CC74630D9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984296" y="6355080"/>
            <a:ext cx="1764792" cy="137160"/>
          </a:xfrm>
        </p:spPr>
        <p:txBody>
          <a:bodyPr/>
          <a:lstStyle/>
          <a:p>
            <a:r>
              <a:rPr lang="en-US"/>
              <a:t>November 2024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E362C54E-6F95-4E35-B11E-0FA6890BB9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984296" y="6492240"/>
            <a:ext cx="1764792" cy="137160"/>
          </a:xfrm>
        </p:spPr>
        <p:txBody>
          <a:bodyPr/>
          <a:lstStyle/>
          <a:p>
            <a:fld id="{7870704B-CE94-48CC-AF30-84932A1262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053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501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1F94-6CD8-0F66-BED4-0AB55E8D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C9C5-5DD2-46B7-2377-BAD5921F1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CE518-9034-70BA-E0FE-4362232A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AB29D-8FC1-84C7-2F69-71F330B1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7AEE5-8A58-E00A-5E21-A83ED8B3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21AE-7449-44C3-89EA-042C9104E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393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F9FEE-8110-6E5D-1FDE-48CC00BE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1246E-48A3-5F90-BBAE-093629BD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5CF6E-2244-C042-6BD1-25A6A46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5179-45FE-4C7B-ABBB-BD1DE749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46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Content">
  <p:cSld name="One Column Content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91"/>
          <p:cNvSpPr txBox="1">
            <a:spLocks noGrp="1"/>
          </p:cNvSpPr>
          <p:nvPr>
            <p:ph type="body" idx="1"/>
          </p:nvPr>
        </p:nvSpPr>
        <p:spPr>
          <a:xfrm>
            <a:off x="442914" y="2103438"/>
            <a:ext cx="3529012" cy="406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2" name="Google Shape;892;p29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75" cy="13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3" name="Google Shape;893;p29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4" name="Google Shape;894;p29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9F28B3-CEB0-45B0-BCD0-D462D3E020AF}" type="datetime1">
              <a:rPr lang="en-IN" smtClean="0"/>
              <a:t>15-09-2026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352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7EF27-42D7-BF0A-9014-F5E3E3C7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6B558-6007-18E2-E164-CD14DDA63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76F95-F3FD-A10C-5887-5395131E4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21ABD-4DD0-4EC2-833A-A420A8FB00C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28FE5-9B25-627A-29CB-493B2C9A1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843C1-2C49-E9E7-FDDB-E471ADD9E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6CBD6-074C-4C55-808D-958A51CBB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3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F931E76-302E-46AA-8018-DCBD485D2B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6720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532" imgH="532" progId="TCLayout.ActiveDocument.1">
                  <p:embed/>
                </p:oleObj>
              </mc:Choice>
              <mc:Fallback>
                <p:oleObj name="think-cell Slide" r:id="rId17" imgW="532" imgH="532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F931E76-302E-46AA-8018-DCBD485D2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10;p33"/>
          <p:cNvSpPr txBox="1">
            <a:spLocks noGrp="1"/>
          </p:cNvSpPr>
          <p:nvPr>
            <p:ph type="body" idx="1"/>
          </p:nvPr>
        </p:nvSpPr>
        <p:spPr>
          <a:xfrm>
            <a:off x="442913" y="1447800"/>
            <a:ext cx="11306175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/>
          <p:nvPr/>
        </p:nvSpPr>
        <p:spPr>
          <a:xfrm>
            <a:off x="442913" y="6492240"/>
            <a:ext cx="54737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PwC | </a:t>
            </a:r>
            <a:r>
              <a:rPr lang="it-IT" sz="750">
                <a:solidFill>
                  <a:schemeClr val="dk1"/>
                </a:solidFill>
              </a:rPr>
              <a:t>Skill India Programme</a:t>
            </a:r>
          </a:p>
        </p:txBody>
      </p:sp>
      <p:sp>
        <p:nvSpPr>
          <p:cNvPr id="12" name="Google Shape;12;p33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title"/>
          </p:nvPr>
        </p:nvSpPr>
        <p:spPr>
          <a:xfrm>
            <a:off x="436896" y="392911"/>
            <a:ext cx="113061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33"/>
          <p:cNvSpPr txBox="1"/>
          <p:nvPr/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3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08650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pos="3953">
          <p15:clr>
            <a:srgbClr val="F26B43"/>
          </p15:clr>
        </p15:guide>
        <p15:guide id="5" pos="3727">
          <p15:clr>
            <a:srgbClr val="F26B43"/>
          </p15:clr>
        </p15:guide>
        <p15:guide id="6" pos="2726">
          <p15:clr>
            <a:srgbClr val="F26B43"/>
          </p15:clr>
        </p15:guide>
        <p15:guide id="7" pos="2502">
          <p15:clr>
            <a:srgbClr val="F26B43"/>
          </p15:clr>
        </p15:guide>
        <p15:guide id="8" pos="4952">
          <p15:clr>
            <a:srgbClr val="F26B43"/>
          </p15:clr>
        </p15:guide>
        <p15:guide id="9" pos="5177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orient="horz" pos="777">
          <p15:clr>
            <a:srgbClr val="F26B43"/>
          </p15:clr>
        </p15:guide>
        <p15:guide id="12" orient="horz" pos="528">
          <p15:clr>
            <a:srgbClr val="F26B43"/>
          </p15:clr>
        </p15:guide>
        <p15:guide id="13" orient="horz" pos="288">
          <p15:clr>
            <a:srgbClr val="F26B43"/>
          </p15:clr>
        </p15:guide>
        <p15:guide id="14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2.xml"/><Relationship Id="rId1" Type="http://schemas.openxmlformats.org/officeDocument/2006/relationships/customXml" Target="../../customXml/item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2.xml"/><Relationship Id="rId1" Type="http://schemas.openxmlformats.org/officeDocument/2006/relationships/customXml" Target="../../customXml/item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2.xml"/><Relationship Id="rId1" Type="http://schemas.openxmlformats.org/officeDocument/2006/relationships/customXml" Target="../../customXml/item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2.xml"/><Relationship Id="rId1" Type="http://schemas.openxmlformats.org/officeDocument/2006/relationships/customXml" Target="../../customXml/item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D7B2AA-F39E-3353-F531-5F0215EB415B}"/>
              </a:ext>
            </a:extLst>
          </p:cNvPr>
          <p:cNvSpPr txBox="1">
            <a:spLocks/>
          </p:cNvSpPr>
          <p:nvPr/>
        </p:nvSpPr>
        <p:spPr>
          <a:xfrm>
            <a:off x="334955" y="154008"/>
            <a:ext cx="10128887" cy="385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5000"/>
              </a:lnSpc>
              <a:spcBef>
                <a:spcPct val="0"/>
              </a:spcBef>
              <a:buNone/>
              <a:defRPr sz="2800" b="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Call for application and onboarding status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6DF72E-5B7F-1DA7-AE12-7CD005017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94105"/>
              </p:ext>
            </p:extLst>
          </p:nvPr>
        </p:nvGraphicFramePr>
        <p:xfrm>
          <a:off x="258755" y="728344"/>
          <a:ext cx="5486400" cy="56153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65195">
                  <a:extLst>
                    <a:ext uri="{9D8B030D-6E8A-4147-A177-3AD203B41FA5}">
                      <a16:colId xmlns:a16="http://schemas.microsoft.com/office/drawing/2014/main" val="144155725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304256209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38873962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4272211517"/>
                    </a:ext>
                  </a:extLst>
                </a:gridCol>
                <a:gridCol w="1211255">
                  <a:extLst>
                    <a:ext uri="{9D8B030D-6E8A-4147-A177-3AD203B41FA5}">
                      <a16:colId xmlns:a16="http://schemas.microsoft.com/office/drawing/2014/main" val="1726889607"/>
                    </a:ext>
                  </a:extLst>
                </a:gridCol>
              </a:tblGrid>
              <a:tr h="301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S.No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District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Target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Achievement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Achievement 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5105483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Nainital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78297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2 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Champawat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14237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3 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Pithoragarh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8917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4 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Bageshwar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27018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5 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Chamoli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17618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6 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Almora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42058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7 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Pauri Garhwal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126672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8 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Haridwar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792574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9 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Udham Singh Nagar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10342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10 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Dehradun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12201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11 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Uttarkashi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376755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12 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Tehri Garhwal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30759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Rudraprayag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839521"/>
                  </a:ext>
                </a:extLst>
              </a:tr>
              <a:tr h="379585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Grand Total</a:t>
                      </a:r>
                    </a:p>
                  </a:txBody>
                  <a:tcPr marL="6335" marR="6335" marT="633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19950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23571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118%</a:t>
                      </a: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8913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1FD530-BD60-2A59-DB28-301452F75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85808"/>
              </p:ext>
            </p:extLst>
          </p:nvPr>
        </p:nvGraphicFramePr>
        <p:xfrm>
          <a:off x="6032661" y="728344"/>
          <a:ext cx="5486400" cy="56153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65195">
                  <a:extLst>
                    <a:ext uri="{9D8B030D-6E8A-4147-A177-3AD203B41FA5}">
                      <a16:colId xmlns:a16="http://schemas.microsoft.com/office/drawing/2014/main" val="144155725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304256209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38873962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4272211517"/>
                    </a:ext>
                  </a:extLst>
                </a:gridCol>
                <a:gridCol w="1211255">
                  <a:extLst>
                    <a:ext uri="{9D8B030D-6E8A-4147-A177-3AD203B41FA5}">
                      <a16:colId xmlns:a16="http://schemas.microsoft.com/office/drawing/2014/main" val="1726889607"/>
                    </a:ext>
                  </a:extLst>
                </a:gridCol>
              </a:tblGrid>
              <a:tr h="301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S.No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District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Target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Achievement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Achievement 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5105483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Champawat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137%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78297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2 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Nainital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483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132%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14237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3 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Pithoragarh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127%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8917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4 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Chamoli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445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125%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27018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5 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Almora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115%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17618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6 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Dehradun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436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113%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42058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7 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Bageshwar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112%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126672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8 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Udham Singh Nagar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404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109%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792574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9 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Pauri Garhwal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105%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10342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10 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Uttarkashi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105%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12201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11 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Rudraprayag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95%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376755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12 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Tehri Garhwal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79%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F6F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30759"/>
                  </a:ext>
                </a:extLst>
              </a:tr>
              <a:tr h="3795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35" marR="6335" marT="633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Haridwar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355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224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u="none" strike="noStrike">
                          <a:effectLst/>
                          <a:latin typeface="Georgia" panose="02040502050405020303" pitchFamily="18" charset="0"/>
                        </a:rPr>
                        <a:t>63%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ctr">
                    <a:solidFill>
                      <a:srgbClr val="FEA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839521"/>
                  </a:ext>
                </a:extLst>
              </a:tr>
              <a:tr h="379585">
                <a:tc gridSpan="2"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Grand Total</a:t>
                      </a:r>
                    </a:p>
                  </a:txBody>
                  <a:tcPr marL="6335" marR="6335" marT="633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4100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4421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108%</a:t>
                      </a:r>
                    </a:p>
                  </a:txBody>
                  <a:tcPr marL="6350" marR="6350" marT="6350" marB="0" anchor="ctr"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891310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06BC2807-8570-BF4A-C1B8-A7F15F6C608D}"/>
              </a:ext>
            </a:extLst>
          </p:cNvPr>
          <p:cNvSpPr/>
          <p:nvPr/>
        </p:nvSpPr>
        <p:spPr>
          <a:xfrm>
            <a:off x="8418832" y="355864"/>
            <a:ext cx="952901" cy="317969"/>
          </a:xfrm>
          <a:prstGeom prst="rect">
            <a:avLst/>
          </a:prstGeom>
          <a:solidFill>
            <a:srgbClr val="4EA72E">
              <a:lumMod val="20000"/>
              <a:lumOff val="8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&gt;90%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D45D58-7DFD-B207-599C-1756E03DB2CB}"/>
              </a:ext>
            </a:extLst>
          </p:cNvPr>
          <p:cNvSpPr/>
          <p:nvPr/>
        </p:nvSpPr>
        <p:spPr>
          <a:xfrm>
            <a:off x="9473341" y="355864"/>
            <a:ext cx="952901" cy="317969"/>
          </a:xfrm>
          <a:prstGeom prst="rect">
            <a:avLst/>
          </a:prstGeom>
          <a:solidFill>
            <a:srgbClr val="F6F4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70-90%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9389D4-0F19-27DF-38FC-7AEC470EEEED}"/>
              </a:ext>
            </a:extLst>
          </p:cNvPr>
          <p:cNvSpPr/>
          <p:nvPr/>
        </p:nvSpPr>
        <p:spPr>
          <a:xfrm>
            <a:off x="10527850" y="362224"/>
            <a:ext cx="952901" cy="311610"/>
          </a:xfrm>
          <a:prstGeom prst="rect">
            <a:avLst/>
          </a:prstGeom>
          <a:solidFill>
            <a:srgbClr val="FEA6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&lt;70%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A5E582-AAC4-ECC2-6CB0-B62F95979353}"/>
              </a:ext>
            </a:extLst>
          </p:cNvPr>
          <p:cNvSpPr txBox="1"/>
          <p:nvPr/>
        </p:nvSpPr>
        <p:spPr>
          <a:xfrm>
            <a:off x="270947" y="434093"/>
            <a:ext cx="5678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Georgia" panose="02040502050405020303" pitchFamily="18" charset="0"/>
              </a:rPr>
              <a:t>Target Q2 vs Achievement (14-09-2026)</a:t>
            </a:r>
          </a:p>
        </p:txBody>
      </p:sp>
    </p:spTree>
    <p:extLst>
      <p:ext uri="{BB962C8B-B14F-4D97-AF65-F5344CB8AC3E}">
        <p14:creationId xmlns:p14="http://schemas.microsoft.com/office/powerpoint/2010/main" val="265729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27DB5-8DF0-ED1C-E2E6-12EC9293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>
            <a:extLst>
              <a:ext uri="{FF2B5EF4-FFF2-40B4-BE49-F238E27FC236}">
                <a16:creationId xmlns:a16="http://schemas.microsoft.com/office/drawing/2014/main" id="{F4D92719-8216-B6FD-9D19-DD62561F037A}"/>
              </a:ext>
            </a:extLst>
          </p:cNvPr>
          <p:cNvSpPr txBox="1">
            <a:spLocks/>
          </p:cNvSpPr>
          <p:nvPr/>
        </p:nvSpPr>
        <p:spPr>
          <a:xfrm>
            <a:off x="334955" y="154008"/>
            <a:ext cx="10128887" cy="385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5000"/>
              </a:lnSpc>
              <a:spcBef>
                <a:spcPct val="0"/>
              </a:spcBef>
              <a:buNone/>
              <a:defRPr sz="2800" b="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District wise Progress: Key I</a:t>
            </a:r>
            <a:r>
              <a:rPr lang="en-US" sz="2400" err="1"/>
              <a:t>ndicators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(Kumaon Region)</a:t>
            </a:r>
          </a:p>
        </p:txBody>
      </p:sp>
      <p:pic>
        <p:nvPicPr>
          <p:cNvPr id="7" name="Picture 6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24A66C06-5945-A602-E0BB-19FC34E68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675" y="-3779"/>
            <a:ext cx="610882" cy="64671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39DBC5-048A-F1AB-C60E-9067DFEB5B07}"/>
              </a:ext>
            </a:extLst>
          </p:cNvPr>
          <p:cNvCxnSpPr>
            <a:cxnSpLocks/>
          </p:cNvCxnSpPr>
          <p:nvPr/>
        </p:nvCxnSpPr>
        <p:spPr>
          <a:xfrm>
            <a:off x="184732" y="711092"/>
            <a:ext cx="11924547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DEB85A-62F2-3091-9E63-CEB96A9F7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200898"/>
              </p:ext>
            </p:extLst>
          </p:nvPr>
        </p:nvGraphicFramePr>
        <p:xfrm>
          <a:off x="184732" y="814533"/>
          <a:ext cx="11924548" cy="5726288"/>
        </p:xfrm>
        <a:graphic>
          <a:graphicData uri="http://schemas.openxmlformats.org/drawingml/2006/table">
            <a:tbl>
              <a:tblPr/>
              <a:tblGrid>
                <a:gridCol w="458796">
                  <a:extLst>
                    <a:ext uri="{9D8B030D-6E8A-4147-A177-3AD203B41FA5}">
                      <a16:colId xmlns:a16="http://schemas.microsoft.com/office/drawing/2014/main" val="558223889"/>
                    </a:ext>
                  </a:extLst>
                </a:gridCol>
                <a:gridCol w="2067629">
                  <a:extLst>
                    <a:ext uri="{9D8B030D-6E8A-4147-A177-3AD203B41FA5}">
                      <a16:colId xmlns:a16="http://schemas.microsoft.com/office/drawing/2014/main" val="4087160700"/>
                    </a:ext>
                  </a:extLst>
                </a:gridCol>
                <a:gridCol w="855639">
                  <a:extLst>
                    <a:ext uri="{9D8B030D-6E8A-4147-A177-3AD203B41FA5}">
                      <a16:colId xmlns:a16="http://schemas.microsoft.com/office/drawing/2014/main" val="4107481115"/>
                    </a:ext>
                  </a:extLst>
                </a:gridCol>
                <a:gridCol w="843809">
                  <a:extLst>
                    <a:ext uri="{9D8B030D-6E8A-4147-A177-3AD203B41FA5}">
                      <a16:colId xmlns:a16="http://schemas.microsoft.com/office/drawing/2014/main" val="478426020"/>
                    </a:ext>
                  </a:extLst>
                </a:gridCol>
                <a:gridCol w="843810">
                  <a:extLst>
                    <a:ext uri="{9D8B030D-6E8A-4147-A177-3AD203B41FA5}">
                      <a16:colId xmlns:a16="http://schemas.microsoft.com/office/drawing/2014/main" val="922549275"/>
                    </a:ext>
                  </a:extLst>
                </a:gridCol>
                <a:gridCol w="843809">
                  <a:extLst>
                    <a:ext uri="{9D8B030D-6E8A-4147-A177-3AD203B41FA5}">
                      <a16:colId xmlns:a16="http://schemas.microsoft.com/office/drawing/2014/main" val="2936903177"/>
                    </a:ext>
                  </a:extLst>
                </a:gridCol>
                <a:gridCol w="847317">
                  <a:extLst>
                    <a:ext uri="{9D8B030D-6E8A-4147-A177-3AD203B41FA5}">
                      <a16:colId xmlns:a16="http://schemas.microsoft.com/office/drawing/2014/main" val="1140000838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2246889355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15728076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3699039484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145689492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831937544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2282051419"/>
                    </a:ext>
                  </a:extLst>
                </a:gridCol>
                <a:gridCol w="737677">
                  <a:extLst>
                    <a:ext uri="{9D8B030D-6E8A-4147-A177-3AD203B41FA5}">
                      <a16:colId xmlns:a16="http://schemas.microsoft.com/office/drawing/2014/main" val="1605643773"/>
                    </a:ext>
                  </a:extLst>
                </a:gridCol>
              </a:tblGrid>
              <a:tr h="28869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Deliverables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Almora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Bageshwar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Champawat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Nainital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Pithoragarh 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U S Nagar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00037"/>
                  </a:ext>
                </a:extLst>
              </a:tr>
              <a:tr h="2654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113501"/>
                  </a:ext>
                </a:extLst>
              </a:tr>
              <a:tr h="2887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Call for Application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574648"/>
                  </a:ext>
                </a:extLst>
              </a:tr>
              <a:tr h="2887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District Level Workshops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70028"/>
                  </a:ext>
                </a:extLst>
              </a:tr>
              <a:tr h="2887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3 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EAP/EDP Sessions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897171"/>
                  </a:ext>
                </a:extLst>
              </a:tr>
              <a:tr h="2887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4 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Incubatees Onboarded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397295"/>
                  </a:ext>
                </a:extLst>
              </a:tr>
              <a:tr h="6003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5 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Onboarding of Potential Lakhpati Didi/ SHG Members/ CBOs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09199"/>
                  </a:ext>
                </a:extLst>
              </a:tr>
              <a:tr h="4762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6 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Business Skills Training Sessions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54985"/>
                  </a:ext>
                </a:extLst>
              </a:tr>
              <a:tr h="3615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7 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Business Registration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12496"/>
                  </a:ext>
                </a:extLst>
              </a:tr>
              <a:tr h="3439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8 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Artisan Card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516011"/>
                  </a:ext>
                </a:extLst>
              </a:tr>
              <a:tr h="5677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9 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Specialized Mentorship Support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86692"/>
                  </a:ext>
                </a:extLst>
              </a:tr>
              <a:tr h="5677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10 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Incubatees linked to online/ offline Market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52004"/>
                  </a:ext>
                </a:extLst>
              </a:tr>
              <a:tr h="363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Schematic Convergence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78654"/>
                  </a:ext>
                </a:extLst>
              </a:tr>
              <a:tr h="4472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Support to MUY Incubatee through REAP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87903"/>
                  </a:ext>
                </a:extLst>
              </a:tr>
              <a:tr h="2887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Business Model Canvas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9117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2C952A-0FBB-7B3F-2109-BBB2F81979FE}"/>
              </a:ext>
            </a:extLst>
          </p:cNvPr>
          <p:cNvSpPr txBox="1"/>
          <p:nvPr/>
        </p:nvSpPr>
        <p:spPr>
          <a:xfrm>
            <a:off x="118689" y="6608978"/>
            <a:ext cx="435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*Targets are allocated at Hub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BBE7A-A4A9-8684-C92F-BE6AED10B519}"/>
              </a:ext>
            </a:extLst>
          </p:cNvPr>
          <p:cNvSpPr txBox="1"/>
          <p:nvPr/>
        </p:nvSpPr>
        <p:spPr>
          <a:xfrm>
            <a:off x="270947" y="434093"/>
            <a:ext cx="5678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Georgia" panose="02040502050405020303" pitchFamily="18" charset="0"/>
              </a:rPr>
              <a:t>Target Q2 vs Achievement (14-09-2026)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B62C4B-91AE-7D07-2464-9672BD25300F}"/>
              </a:ext>
            </a:extLst>
          </p:cNvPr>
          <p:cNvSpPr/>
          <p:nvPr/>
        </p:nvSpPr>
        <p:spPr>
          <a:xfrm>
            <a:off x="8418832" y="355864"/>
            <a:ext cx="952901" cy="3179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&gt;90%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20ED27-1548-11B9-CFFC-6BD980A6FEB4}"/>
              </a:ext>
            </a:extLst>
          </p:cNvPr>
          <p:cNvSpPr/>
          <p:nvPr/>
        </p:nvSpPr>
        <p:spPr>
          <a:xfrm>
            <a:off x="9473341" y="355864"/>
            <a:ext cx="952901" cy="317969"/>
          </a:xfrm>
          <a:prstGeom prst="rect">
            <a:avLst/>
          </a:prstGeom>
          <a:solidFill>
            <a:srgbClr val="F6F4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70-90%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4AE48D-BA34-7263-A99E-65EDA9114F46}"/>
              </a:ext>
            </a:extLst>
          </p:cNvPr>
          <p:cNvSpPr/>
          <p:nvPr/>
        </p:nvSpPr>
        <p:spPr>
          <a:xfrm>
            <a:off x="10527850" y="362224"/>
            <a:ext cx="952901" cy="311610"/>
          </a:xfrm>
          <a:prstGeom prst="rect">
            <a:avLst/>
          </a:prstGeom>
          <a:solidFill>
            <a:srgbClr val="FEA6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&lt;70%</a:t>
            </a: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33819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BB32-3A11-B8AB-3011-343DDF57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>
            <a:extLst>
              <a:ext uri="{FF2B5EF4-FFF2-40B4-BE49-F238E27FC236}">
                <a16:creationId xmlns:a16="http://schemas.microsoft.com/office/drawing/2014/main" id="{45A7400C-30A4-8174-14F0-AC0D36F7596B}"/>
              </a:ext>
            </a:extLst>
          </p:cNvPr>
          <p:cNvSpPr txBox="1">
            <a:spLocks/>
          </p:cNvSpPr>
          <p:nvPr/>
        </p:nvSpPr>
        <p:spPr>
          <a:xfrm>
            <a:off x="334955" y="154008"/>
            <a:ext cx="10128887" cy="51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</a:defRPr>
            </a:lvl1pPr>
          </a:lstStyle>
          <a:p>
            <a:r>
              <a:rPr lang="en-US"/>
              <a:t>District wise Progress: Non-Key indicators (Kumaon Region)</a:t>
            </a:r>
          </a:p>
        </p:txBody>
      </p:sp>
      <p:pic>
        <p:nvPicPr>
          <p:cNvPr id="7" name="Picture 6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CE63A5F3-605E-3033-273C-AD7802007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675" y="-3779"/>
            <a:ext cx="610882" cy="64671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6A879-9734-62B2-1336-6795D3712D68}"/>
              </a:ext>
            </a:extLst>
          </p:cNvPr>
          <p:cNvCxnSpPr>
            <a:cxnSpLocks/>
          </p:cNvCxnSpPr>
          <p:nvPr/>
        </p:nvCxnSpPr>
        <p:spPr>
          <a:xfrm>
            <a:off x="184732" y="711092"/>
            <a:ext cx="11888577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5FBA18-E22D-6B94-4FCA-0BE5EDA11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097976"/>
              </p:ext>
            </p:extLst>
          </p:nvPr>
        </p:nvGraphicFramePr>
        <p:xfrm>
          <a:off x="183009" y="812972"/>
          <a:ext cx="11890300" cy="5781219"/>
        </p:xfrm>
        <a:graphic>
          <a:graphicData uri="http://schemas.openxmlformats.org/drawingml/2006/table">
            <a:tbl>
              <a:tblPr/>
              <a:tblGrid>
                <a:gridCol w="457479">
                  <a:extLst>
                    <a:ext uri="{9D8B030D-6E8A-4147-A177-3AD203B41FA5}">
                      <a16:colId xmlns:a16="http://schemas.microsoft.com/office/drawing/2014/main" val="558223889"/>
                    </a:ext>
                  </a:extLst>
                </a:gridCol>
                <a:gridCol w="2456395">
                  <a:extLst>
                    <a:ext uri="{9D8B030D-6E8A-4147-A177-3AD203B41FA5}">
                      <a16:colId xmlns:a16="http://schemas.microsoft.com/office/drawing/2014/main" val="4087160700"/>
                    </a:ext>
                  </a:extLst>
                </a:gridCol>
                <a:gridCol w="802257">
                  <a:extLst>
                    <a:ext uri="{9D8B030D-6E8A-4147-A177-3AD203B41FA5}">
                      <a16:colId xmlns:a16="http://schemas.microsoft.com/office/drawing/2014/main" val="4107481115"/>
                    </a:ext>
                  </a:extLst>
                </a:gridCol>
                <a:gridCol w="802256">
                  <a:extLst>
                    <a:ext uri="{9D8B030D-6E8A-4147-A177-3AD203B41FA5}">
                      <a16:colId xmlns:a16="http://schemas.microsoft.com/office/drawing/2014/main" val="478426020"/>
                    </a:ext>
                  </a:extLst>
                </a:gridCol>
                <a:gridCol w="707366">
                  <a:extLst>
                    <a:ext uri="{9D8B030D-6E8A-4147-A177-3AD203B41FA5}">
                      <a16:colId xmlns:a16="http://schemas.microsoft.com/office/drawing/2014/main" val="922549275"/>
                    </a:ext>
                  </a:extLst>
                </a:gridCol>
                <a:gridCol w="785004">
                  <a:extLst>
                    <a:ext uri="{9D8B030D-6E8A-4147-A177-3AD203B41FA5}">
                      <a16:colId xmlns:a16="http://schemas.microsoft.com/office/drawing/2014/main" val="2936903177"/>
                    </a:ext>
                  </a:extLst>
                </a:gridCol>
                <a:gridCol w="730637">
                  <a:extLst>
                    <a:ext uri="{9D8B030D-6E8A-4147-A177-3AD203B41FA5}">
                      <a16:colId xmlns:a16="http://schemas.microsoft.com/office/drawing/2014/main" val="1140000838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2246889355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15728076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3699039484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145689492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831937544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2282051419"/>
                    </a:ext>
                  </a:extLst>
                </a:gridCol>
                <a:gridCol w="735558">
                  <a:extLst>
                    <a:ext uri="{9D8B030D-6E8A-4147-A177-3AD203B41FA5}">
                      <a16:colId xmlns:a16="http://schemas.microsoft.com/office/drawing/2014/main" val="1605643773"/>
                    </a:ext>
                  </a:extLst>
                </a:gridCol>
              </a:tblGrid>
              <a:tr h="19805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Deliverables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Almora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Bageshwar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Champawat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Nainital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Pithoragarh 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U S Nagar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00037"/>
                  </a:ext>
                </a:extLst>
              </a:tr>
              <a:tr h="1821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113501"/>
                  </a:ext>
                </a:extLst>
              </a:tr>
              <a:tr h="7723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No. of Awareness cum Outreach activities for SHG members/ Potential Lakhpati Didis/ SHGs/ CBOs etc.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574648"/>
                  </a:ext>
                </a:extLst>
              </a:tr>
              <a:tr h="3894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Participants in Awareness cum Outreach activities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70028"/>
                  </a:ext>
                </a:extLst>
              </a:tr>
              <a:tr h="3894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3 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Outreach through Community Organizations*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897171"/>
                  </a:ext>
                </a:extLst>
              </a:tr>
              <a:tr h="3894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4 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Incubatees taken Part in Business Modules Training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397295"/>
                  </a:ext>
                </a:extLst>
              </a:tr>
              <a:tr h="3894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5 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Technical Trainings to Incubatees*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462712"/>
                  </a:ext>
                </a:extLst>
              </a:tr>
              <a:tr h="58091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6 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Technical Trainings to Potential Lakhpati Didis/ SHG Members/ CBOs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6890"/>
                  </a:ext>
                </a:extLst>
              </a:tr>
              <a:tr h="1980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7 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FSSAI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09199"/>
                  </a:ext>
                </a:extLst>
              </a:tr>
              <a:tr h="1980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8 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UTDB*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54985"/>
                  </a:ext>
                </a:extLst>
              </a:tr>
              <a:tr h="1980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9 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GST Registration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12496"/>
                  </a:ext>
                </a:extLst>
              </a:tr>
              <a:tr h="1980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10 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Trademark application filling*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516011"/>
                  </a:ext>
                </a:extLst>
              </a:tr>
              <a:tr h="1980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GI Seller Registration*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86692"/>
                  </a:ext>
                </a:extLst>
              </a:tr>
              <a:tr h="3894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Advance Licensing Support (Mandi Licensing, Lab Test etc.)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52004"/>
                  </a:ext>
                </a:extLst>
              </a:tr>
              <a:tr h="5330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Other Support Services - Labelling, Packaging, Logo Designing etc.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78654"/>
                  </a:ext>
                </a:extLst>
              </a:tr>
              <a:tr h="5330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Meeting of staff with Line Department at Spoke/Hub/State Level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2274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E87BCC-49D3-23DE-69B1-9DBAA490E882}"/>
              </a:ext>
            </a:extLst>
          </p:cNvPr>
          <p:cNvSpPr txBox="1"/>
          <p:nvPr/>
        </p:nvSpPr>
        <p:spPr>
          <a:xfrm>
            <a:off x="118689" y="6608978"/>
            <a:ext cx="435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1">
                <a:solidFill>
                  <a:srgbClr val="FF0000"/>
                </a:solidFill>
                <a:latin typeface="Georgia" panose="02040502050405020303" pitchFamily="18" charset="0"/>
              </a:rPr>
              <a:t>*Targets are allocated at Hub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D1897-E13E-F912-4B9C-E94286197E12}"/>
              </a:ext>
            </a:extLst>
          </p:cNvPr>
          <p:cNvSpPr txBox="1"/>
          <p:nvPr/>
        </p:nvSpPr>
        <p:spPr>
          <a:xfrm>
            <a:off x="270947" y="434093"/>
            <a:ext cx="5678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Georgia" panose="02040502050405020303" pitchFamily="18" charset="0"/>
              </a:rPr>
              <a:t>Target Q2 vs Achievement (14-09-2026)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5A240-36AC-33EF-E77D-F2A6FCA43819}"/>
              </a:ext>
            </a:extLst>
          </p:cNvPr>
          <p:cNvSpPr/>
          <p:nvPr/>
        </p:nvSpPr>
        <p:spPr>
          <a:xfrm>
            <a:off x="8418832" y="355864"/>
            <a:ext cx="952901" cy="3179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&gt;90%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1F3A90-27FC-A355-7AC7-9C9B09E96D8E}"/>
              </a:ext>
            </a:extLst>
          </p:cNvPr>
          <p:cNvSpPr/>
          <p:nvPr/>
        </p:nvSpPr>
        <p:spPr>
          <a:xfrm>
            <a:off x="9473341" y="355864"/>
            <a:ext cx="952901" cy="317969"/>
          </a:xfrm>
          <a:prstGeom prst="rect">
            <a:avLst/>
          </a:prstGeom>
          <a:solidFill>
            <a:srgbClr val="F6F4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70-90%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3D975B-F1B7-7FA2-E9F1-CA43C84BF466}"/>
              </a:ext>
            </a:extLst>
          </p:cNvPr>
          <p:cNvSpPr/>
          <p:nvPr/>
        </p:nvSpPr>
        <p:spPr>
          <a:xfrm>
            <a:off x="10527850" y="362224"/>
            <a:ext cx="952901" cy="311610"/>
          </a:xfrm>
          <a:prstGeom prst="rect">
            <a:avLst/>
          </a:prstGeom>
          <a:solidFill>
            <a:srgbClr val="FEA6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&lt;70%</a:t>
            </a: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129011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EACBD-5DB5-3022-AE87-AD525F2B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>
            <a:extLst>
              <a:ext uri="{FF2B5EF4-FFF2-40B4-BE49-F238E27FC236}">
                <a16:creationId xmlns:a16="http://schemas.microsoft.com/office/drawing/2014/main" id="{A246A1DC-88A5-8AED-0072-748D4C547029}"/>
              </a:ext>
            </a:extLst>
          </p:cNvPr>
          <p:cNvSpPr txBox="1">
            <a:spLocks/>
          </p:cNvSpPr>
          <p:nvPr/>
        </p:nvSpPr>
        <p:spPr>
          <a:xfrm>
            <a:off x="334955" y="154008"/>
            <a:ext cx="10128887" cy="51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</a:defRPr>
            </a:lvl1pPr>
          </a:lstStyle>
          <a:p>
            <a:r>
              <a:rPr lang="en-US"/>
              <a:t>District wise Progress: Key Indicators(Garhwal Region)</a:t>
            </a:r>
          </a:p>
        </p:txBody>
      </p:sp>
      <p:pic>
        <p:nvPicPr>
          <p:cNvPr id="7" name="Picture 6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C14DDAC6-CADA-CDDA-017B-F679DC1A9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675" y="-3779"/>
            <a:ext cx="610882" cy="64671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D3CD28-3058-965F-74C7-AD3C3F972B3C}"/>
              </a:ext>
            </a:extLst>
          </p:cNvPr>
          <p:cNvCxnSpPr>
            <a:cxnSpLocks/>
          </p:cNvCxnSpPr>
          <p:nvPr/>
        </p:nvCxnSpPr>
        <p:spPr>
          <a:xfrm>
            <a:off x="184732" y="711092"/>
            <a:ext cx="11922825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12FABC-36F6-24AE-27AB-0DF02788D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040220"/>
              </p:ext>
            </p:extLst>
          </p:nvPr>
        </p:nvGraphicFramePr>
        <p:xfrm>
          <a:off x="183010" y="803447"/>
          <a:ext cx="11922831" cy="5812051"/>
        </p:xfrm>
        <a:graphic>
          <a:graphicData uri="http://schemas.openxmlformats.org/drawingml/2006/table">
            <a:tbl>
              <a:tblPr/>
              <a:tblGrid>
                <a:gridCol w="407091">
                  <a:extLst>
                    <a:ext uri="{9D8B030D-6E8A-4147-A177-3AD203B41FA5}">
                      <a16:colId xmlns:a16="http://schemas.microsoft.com/office/drawing/2014/main" val="558223889"/>
                    </a:ext>
                  </a:extLst>
                </a:gridCol>
                <a:gridCol w="1833922">
                  <a:extLst>
                    <a:ext uri="{9D8B030D-6E8A-4147-A177-3AD203B41FA5}">
                      <a16:colId xmlns:a16="http://schemas.microsoft.com/office/drawing/2014/main" val="4087160700"/>
                    </a:ext>
                  </a:extLst>
                </a:gridCol>
                <a:gridCol w="707366">
                  <a:extLst>
                    <a:ext uri="{9D8B030D-6E8A-4147-A177-3AD203B41FA5}">
                      <a16:colId xmlns:a16="http://schemas.microsoft.com/office/drawing/2014/main" val="4107481115"/>
                    </a:ext>
                  </a:extLst>
                </a:gridCol>
                <a:gridCol w="690113">
                  <a:extLst>
                    <a:ext uri="{9D8B030D-6E8A-4147-A177-3AD203B41FA5}">
                      <a16:colId xmlns:a16="http://schemas.microsoft.com/office/drawing/2014/main" val="478426020"/>
                    </a:ext>
                  </a:extLst>
                </a:gridCol>
                <a:gridCol w="560018">
                  <a:extLst>
                    <a:ext uri="{9D8B030D-6E8A-4147-A177-3AD203B41FA5}">
                      <a16:colId xmlns:a16="http://schemas.microsoft.com/office/drawing/2014/main" val="922549275"/>
                    </a:ext>
                  </a:extLst>
                </a:gridCol>
                <a:gridCol w="802955">
                  <a:extLst>
                    <a:ext uri="{9D8B030D-6E8A-4147-A177-3AD203B41FA5}">
                      <a16:colId xmlns:a16="http://schemas.microsoft.com/office/drawing/2014/main" val="2936903177"/>
                    </a:ext>
                  </a:extLst>
                </a:gridCol>
                <a:gridCol w="601467">
                  <a:extLst>
                    <a:ext uri="{9D8B030D-6E8A-4147-A177-3AD203B41FA5}">
                      <a16:colId xmlns:a16="http://schemas.microsoft.com/office/drawing/2014/main" val="1140000838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2246889355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15728076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3699039484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145689492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831937544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2282051419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1605643773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3531900924"/>
                    </a:ext>
                  </a:extLst>
                </a:gridCol>
                <a:gridCol w="702211">
                  <a:extLst>
                    <a:ext uri="{9D8B030D-6E8A-4147-A177-3AD203B41FA5}">
                      <a16:colId xmlns:a16="http://schemas.microsoft.com/office/drawing/2014/main" val="1626061000"/>
                    </a:ext>
                  </a:extLst>
                </a:gridCol>
              </a:tblGrid>
              <a:tr h="26777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Deliverables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Chamoli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Dehradun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Haridwar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Pauri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Rudraprayag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Tehri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Uttarkashi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/>
                </a:tc>
                <a:extLst>
                  <a:ext uri="{0D108BD9-81ED-4DB2-BD59-A6C34878D82A}">
                    <a16:rowId xmlns:a16="http://schemas.microsoft.com/office/drawing/2014/main" val="275400037"/>
                  </a:ext>
                </a:extLst>
              </a:tr>
              <a:tr h="2677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113501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Call for Application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1898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1,680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1,740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574648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District Level Workshops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70028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3 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EAP/EDP Sessions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897171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4 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Incubatees Onboarded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397295"/>
                  </a:ext>
                </a:extLst>
              </a:tr>
              <a:tr h="7838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5 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Onboarding of Potential Lakhpati Didi/ SHG Members/CBOs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09199"/>
                  </a:ext>
                </a:extLst>
              </a:tr>
              <a:tr h="525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6 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Business Skills Training Sessions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54985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7 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Business Registration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12496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8 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Artisan Card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516011"/>
                  </a:ext>
                </a:extLst>
              </a:tr>
              <a:tr h="525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9 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Specialized Mentorship Support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86692"/>
                  </a:ext>
                </a:extLst>
              </a:tr>
              <a:tr h="525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10 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Incubatees linked to online/ offline Market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52004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Schematic Convergence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78654"/>
                  </a:ext>
                </a:extLst>
              </a:tr>
              <a:tr h="5258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Support to MUY Incubatee through REAP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87903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Business Model Canvas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9117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348D94-9453-7D62-5426-838B5028C8C8}"/>
              </a:ext>
            </a:extLst>
          </p:cNvPr>
          <p:cNvSpPr txBox="1"/>
          <p:nvPr/>
        </p:nvSpPr>
        <p:spPr>
          <a:xfrm>
            <a:off x="118689" y="6608978"/>
            <a:ext cx="4356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*</a:t>
            </a:r>
            <a:r>
              <a:rPr lang="en-US" sz="1000" b="1" i="1">
                <a:solidFill>
                  <a:srgbClr val="FF0000"/>
                </a:solidFill>
                <a:latin typeface="Georgia" panose="02040502050405020303" pitchFamily="18" charset="0"/>
              </a:rPr>
              <a:t>Targets are allocated at Hub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5F5C0-2DC5-4362-3652-4E65295F5E93}"/>
              </a:ext>
            </a:extLst>
          </p:cNvPr>
          <p:cNvSpPr txBox="1"/>
          <p:nvPr/>
        </p:nvSpPr>
        <p:spPr>
          <a:xfrm>
            <a:off x="270947" y="434093"/>
            <a:ext cx="5678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Georgia" panose="02040502050405020303" pitchFamily="18" charset="0"/>
              </a:rPr>
              <a:t>Target Q2 vs Achievement (14-09-2026)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390FE3-A625-20B7-184D-ADA1D578539A}"/>
              </a:ext>
            </a:extLst>
          </p:cNvPr>
          <p:cNvSpPr/>
          <p:nvPr/>
        </p:nvSpPr>
        <p:spPr>
          <a:xfrm>
            <a:off x="8418832" y="355864"/>
            <a:ext cx="952901" cy="3179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&gt;90%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8B20CC-F7BC-6D9A-86CD-3DF3E4549ABC}"/>
              </a:ext>
            </a:extLst>
          </p:cNvPr>
          <p:cNvSpPr/>
          <p:nvPr/>
        </p:nvSpPr>
        <p:spPr>
          <a:xfrm>
            <a:off x="9473341" y="355864"/>
            <a:ext cx="952901" cy="317969"/>
          </a:xfrm>
          <a:prstGeom prst="rect">
            <a:avLst/>
          </a:prstGeom>
          <a:solidFill>
            <a:srgbClr val="F6F4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70-90%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70488B-1CB2-12E8-C087-8E0F7CB8BEF9}"/>
              </a:ext>
            </a:extLst>
          </p:cNvPr>
          <p:cNvSpPr/>
          <p:nvPr/>
        </p:nvSpPr>
        <p:spPr>
          <a:xfrm>
            <a:off x="10527850" y="362224"/>
            <a:ext cx="952901" cy="311610"/>
          </a:xfrm>
          <a:prstGeom prst="rect">
            <a:avLst/>
          </a:prstGeom>
          <a:solidFill>
            <a:srgbClr val="FEA6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&lt;70%</a:t>
            </a: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139896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94D4-AE87-4819-5660-C2CBC9DF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>
            <a:extLst>
              <a:ext uri="{FF2B5EF4-FFF2-40B4-BE49-F238E27FC236}">
                <a16:creationId xmlns:a16="http://schemas.microsoft.com/office/drawing/2014/main" id="{42953D4B-F842-E353-FA79-1D56779F0F09}"/>
              </a:ext>
            </a:extLst>
          </p:cNvPr>
          <p:cNvSpPr txBox="1">
            <a:spLocks/>
          </p:cNvSpPr>
          <p:nvPr/>
        </p:nvSpPr>
        <p:spPr>
          <a:xfrm>
            <a:off x="334955" y="154008"/>
            <a:ext cx="10128887" cy="51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</a:defRPr>
            </a:lvl1pPr>
          </a:lstStyle>
          <a:p>
            <a:r>
              <a:rPr lang="en-US"/>
              <a:t>District wise Progress: Non-Key Indicators(Garhwal Region)</a:t>
            </a:r>
          </a:p>
        </p:txBody>
      </p:sp>
      <p:pic>
        <p:nvPicPr>
          <p:cNvPr id="7" name="Picture 6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A3FBC947-DE69-C55F-90F4-EE2F17F2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675" y="-3779"/>
            <a:ext cx="610882" cy="64671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984257A-024A-9DEC-66A9-91DB3715C71C}"/>
              </a:ext>
            </a:extLst>
          </p:cNvPr>
          <p:cNvCxnSpPr>
            <a:cxnSpLocks/>
          </p:cNvCxnSpPr>
          <p:nvPr/>
        </p:nvCxnSpPr>
        <p:spPr>
          <a:xfrm>
            <a:off x="184732" y="711092"/>
            <a:ext cx="11888578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995138-EB85-C7CC-B755-D20F55209796}"/>
              </a:ext>
            </a:extLst>
          </p:cNvPr>
          <p:cNvSpPr txBox="1"/>
          <p:nvPr/>
        </p:nvSpPr>
        <p:spPr>
          <a:xfrm>
            <a:off x="118689" y="6608978"/>
            <a:ext cx="435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1">
                <a:solidFill>
                  <a:srgbClr val="FF0000"/>
                </a:solidFill>
                <a:latin typeface="Georgia" panose="02040502050405020303" pitchFamily="18" charset="0"/>
              </a:rPr>
              <a:t>*Targets are allocated at Hub level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DDB614-9B32-2202-B9AF-944CB44C9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267427"/>
              </p:ext>
            </p:extLst>
          </p:nvPr>
        </p:nvGraphicFramePr>
        <p:xfrm>
          <a:off x="183010" y="803448"/>
          <a:ext cx="11890300" cy="5714539"/>
        </p:xfrm>
        <a:graphic>
          <a:graphicData uri="http://schemas.openxmlformats.org/drawingml/2006/table">
            <a:tbl>
              <a:tblPr/>
              <a:tblGrid>
                <a:gridCol w="405980">
                  <a:extLst>
                    <a:ext uri="{9D8B030D-6E8A-4147-A177-3AD203B41FA5}">
                      <a16:colId xmlns:a16="http://schemas.microsoft.com/office/drawing/2014/main" val="558223889"/>
                    </a:ext>
                  </a:extLst>
                </a:gridCol>
                <a:gridCol w="2274980">
                  <a:extLst>
                    <a:ext uri="{9D8B030D-6E8A-4147-A177-3AD203B41FA5}">
                      <a16:colId xmlns:a16="http://schemas.microsoft.com/office/drawing/2014/main" val="4087160700"/>
                    </a:ext>
                  </a:extLst>
                </a:gridCol>
                <a:gridCol w="638355">
                  <a:extLst>
                    <a:ext uri="{9D8B030D-6E8A-4147-A177-3AD203B41FA5}">
                      <a16:colId xmlns:a16="http://schemas.microsoft.com/office/drawing/2014/main" val="4107481115"/>
                    </a:ext>
                  </a:extLst>
                </a:gridCol>
                <a:gridCol w="819509">
                  <a:extLst>
                    <a:ext uri="{9D8B030D-6E8A-4147-A177-3AD203B41FA5}">
                      <a16:colId xmlns:a16="http://schemas.microsoft.com/office/drawing/2014/main" val="478426020"/>
                    </a:ext>
                  </a:extLst>
                </a:gridCol>
                <a:gridCol w="569343">
                  <a:extLst>
                    <a:ext uri="{9D8B030D-6E8A-4147-A177-3AD203B41FA5}">
                      <a16:colId xmlns:a16="http://schemas.microsoft.com/office/drawing/2014/main" val="922549275"/>
                    </a:ext>
                  </a:extLst>
                </a:gridCol>
                <a:gridCol w="733246">
                  <a:extLst>
                    <a:ext uri="{9D8B030D-6E8A-4147-A177-3AD203B41FA5}">
                      <a16:colId xmlns:a16="http://schemas.microsoft.com/office/drawing/2014/main" val="2936903177"/>
                    </a:ext>
                  </a:extLst>
                </a:gridCol>
                <a:gridCol w="586596">
                  <a:extLst>
                    <a:ext uri="{9D8B030D-6E8A-4147-A177-3AD203B41FA5}">
                      <a16:colId xmlns:a16="http://schemas.microsoft.com/office/drawing/2014/main" val="1140000838"/>
                    </a:ext>
                  </a:extLst>
                </a:gridCol>
                <a:gridCol w="733245">
                  <a:extLst>
                    <a:ext uri="{9D8B030D-6E8A-4147-A177-3AD203B41FA5}">
                      <a16:colId xmlns:a16="http://schemas.microsoft.com/office/drawing/2014/main" val="2246889355"/>
                    </a:ext>
                  </a:extLst>
                </a:gridCol>
                <a:gridCol w="595223">
                  <a:extLst>
                    <a:ext uri="{9D8B030D-6E8A-4147-A177-3AD203B41FA5}">
                      <a16:colId xmlns:a16="http://schemas.microsoft.com/office/drawing/2014/main" val="15728076"/>
                    </a:ext>
                  </a:extLst>
                </a:gridCol>
                <a:gridCol w="690113">
                  <a:extLst>
                    <a:ext uri="{9D8B030D-6E8A-4147-A177-3AD203B41FA5}">
                      <a16:colId xmlns:a16="http://schemas.microsoft.com/office/drawing/2014/main" val="3699039484"/>
                    </a:ext>
                  </a:extLst>
                </a:gridCol>
                <a:gridCol w="586596">
                  <a:extLst>
                    <a:ext uri="{9D8B030D-6E8A-4147-A177-3AD203B41FA5}">
                      <a16:colId xmlns:a16="http://schemas.microsoft.com/office/drawing/2014/main" val="145689492"/>
                    </a:ext>
                  </a:extLst>
                </a:gridCol>
                <a:gridCol w="759125">
                  <a:extLst>
                    <a:ext uri="{9D8B030D-6E8A-4147-A177-3AD203B41FA5}">
                      <a16:colId xmlns:a16="http://schemas.microsoft.com/office/drawing/2014/main" val="831937544"/>
                    </a:ext>
                  </a:extLst>
                </a:gridCol>
                <a:gridCol w="612475">
                  <a:extLst>
                    <a:ext uri="{9D8B030D-6E8A-4147-A177-3AD203B41FA5}">
                      <a16:colId xmlns:a16="http://schemas.microsoft.com/office/drawing/2014/main" val="2282051419"/>
                    </a:ext>
                  </a:extLst>
                </a:gridCol>
                <a:gridCol w="690113">
                  <a:extLst>
                    <a:ext uri="{9D8B030D-6E8A-4147-A177-3AD203B41FA5}">
                      <a16:colId xmlns:a16="http://schemas.microsoft.com/office/drawing/2014/main" val="1605643773"/>
                    </a:ext>
                  </a:extLst>
                </a:gridCol>
                <a:gridCol w="495106">
                  <a:extLst>
                    <a:ext uri="{9D8B030D-6E8A-4147-A177-3AD203B41FA5}">
                      <a16:colId xmlns:a16="http://schemas.microsoft.com/office/drawing/2014/main" val="3531900924"/>
                    </a:ext>
                  </a:extLst>
                </a:gridCol>
                <a:gridCol w="700295">
                  <a:extLst>
                    <a:ext uri="{9D8B030D-6E8A-4147-A177-3AD203B41FA5}">
                      <a16:colId xmlns:a16="http://schemas.microsoft.com/office/drawing/2014/main" val="1626061000"/>
                    </a:ext>
                  </a:extLst>
                </a:gridCol>
              </a:tblGrid>
              <a:tr h="25250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Deliverables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Chamoli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Dehradun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Haridwar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Pauri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Rudraprayag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Tehri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Uttarkashi</a:t>
                      </a:r>
                    </a:p>
                  </a:txBody>
                  <a:tcPr marL="5938" marR="5938" marT="5938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5938" marR="5938" marT="5938" marB="0" anchor="ctr"/>
                </a:tc>
                <a:extLst>
                  <a:ext uri="{0D108BD9-81ED-4DB2-BD59-A6C34878D82A}">
                    <a16:rowId xmlns:a16="http://schemas.microsoft.com/office/drawing/2014/main" val="275400037"/>
                  </a:ext>
                </a:extLst>
              </a:tr>
              <a:tr h="2525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Achieved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11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No. of Awareness cum Outreach activities for SHG members/ Potential Lakhpati Didis/ SHGs/ CBOs etc.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574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Participants in Awareness cum Outreach activities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70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3 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Outreach through Community Organizations*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897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4 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Incubatees taken Part in Business Modules Training</a:t>
                      </a:r>
                    </a:p>
                  </a:txBody>
                  <a:tcPr marL="76018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397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5 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Technical Trainings to Incubatees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09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6 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Technical Trainings to Potential Lakhpati Didis/ SHG Members/ CBOs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5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7 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FSSAI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12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8 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UTDB*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51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9 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GST Registration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8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10 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Trademark application filling*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52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11 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GI Seller Registration*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6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7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12 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Advance Licensing Support (Mandi Licensing, Lab Test etc.)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Need Based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87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Other Support Services - Labelling, Packaging, Logo Designing etc.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911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335" marR="6335" marT="6335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Meeting of staff with Line Department at Spoke/ Hub/ State Level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72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9665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AB1547-F879-9FB1-FB8F-25FC1E3ED249}"/>
              </a:ext>
            </a:extLst>
          </p:cNvPr>
          <p:cNvSpPr txBox="1"/>
          <p:nvPr/>
        </p:nvSpPr>
        <p:spPr>
          <a:xfrm>
            <a:off x="270947" y="434093"/>
            <a:ext cx="5678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Georgia" panose="02040502050405020303" pitchFamily="18" charset="0"/>
              </a:rPr>
              <a:t>Target Q2 vs Achievement (14-09-2026)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E91270-D000-0B0E-0EFB-C96C18BEE220}"/>
              </a:ext>
            </a:extLst>
          </p:cNvPr>
          <p:cNvSpPr/>
          <p:nvPr/>
        </p:nvSpPr>
        <p:spPr>
          <a:xfrm>
            <a:off x="8418832" y="355864"/>
            <a:ext cx="952901" cy="3179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&gt;90%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AC6A29-9BD3-C019-39E8-E183A68068AB}"/>
              </a:ext>
            </a:extLst>
          </p:cNvPr>
          <p:cNvSpPr/>
          <p:nvPr/>
        </p:nvSpPr>
        <p:spPr>
          <a:xfrm>
            <a:off x="9473341" y="355864"/>
            <a:ext cx="952901" cy="317969"/>
          </a:xfrm>
          <a:prstGeom prst="rect">
            <a:avLst/>
          </a:prstGeom>
          <a:solidFill>
            <a:srgbClr val="F6F4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70-90%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C9BC85-3377-C801-9B33-16F8D7DE1752}"/>
              </a:ext>
            </a:extLst>
          </p:cNvPr>
          <p:cNvSpPr/>
          <p:nvPr/>
        </p:nvSpPr>
        <p:spPr>
          <a:xfrm>
            <a:off x="10527850" y="362224"/>
            <a:ext cx="952901" cy="311610"/>
          </a:xfrm>
          <a:prstGeom prst="rect">
            <a:avLst/>
          </a:prstGeom>
          <a:solidFill>
            <a:srgbClr val="FEA6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&lt;70%</a:t>
            </a: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22966249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DcR_SlideID>b5bc9086-5cba-43c0-a496-42d0d267637a</DcR_SlideID>
</file>

<file path=customXml/item2.xml><?xml version="1.0" encoding="utf-8"?>
<DcR_SlideID>21080ce4-827b-451e-b91d-8dbcc6655fb3</DcR_SlideID>
</file>

<file path=customXml/item3.xml><?xml version="1.0" encoding="utf-8"?>
<DcR_SlideID>02f88beb-85e8-4b17-9eeb-ee4b0e8b1f92</DcR_SlideID>
</file>

<file path=customXml/item4.xml><?xml version="1.0" encoding="utf-8"?>
<DcR_SlideID>b5bc9086-5cba-43c0-a496-42d0d267637a</DcR_SlideID>
</file>

<file path=customXml/item5.xml><?xml version="1.0" encoding="utf-8"?>
<DcR_SlideID>431e5407-f28a-4f66-91c1-5889537c6953</DcR_SlideID>
</file>

<file path=customXml/item6.xml><?xml version="1.0" encoding="utf-8"?>
<DcR_SlideID>b5bc9086-5cba-43c0-a496-42d0d267637a</DcR_SlideID>
</file>

<file path=customXml/item7.xml><?xml version="1.0" encoding="utf-8"?>
<DcR_SlideID>47fb0d0d-ed9e-4e7b-aac4-d83209d84044</DcR_SlideID>
</file>

<file path=customXml/item8.xml><?xml version="1.0" encoding="utf-8"?>
<DcR_SlideID>0283d5d0-f2e6-4438-900e-2c9dbcffaaaf</DcR_SlideID>
</file>

<file path=customXml/item9.xml><?xml version="1.0" encoding="utf-8"?>
<DcR_SlideID>9d588322-3422-4c8b-9b23-f4ed609edef2</DcR_SlideID>
</file>

<file path=customXml/item10.xml><?xml version="1.0" encoding="utf-8"?>
<DcR_SlideID>2f42e6e9-457d-49aa-b4ca-eb0f9a0d1545</DcR_SlideID>
</file>

<file path=customXml/item11.xml><?xml version="1.0" encoding="utf-8"?>
<DcR_SlideID>96f66925-4f88-4350-8a02-3aa288a2fb53</DcR_SlideID>
</file>

<file path=customXml/item12.xml><?xml version="1.0" encoding="utf-8"?>
<DcR_SlideID>b5bc9086-5cba-43c0-a496-42d0d267637a</DcR_SlideID>
</file>

<file path=customXml/item13.xml><?xml version="1.0" encoding="utf-8"?>
<DcR_SlideID>e974ec42-7319-4e6c-b893-7716f888f5f3</DcR_SlideID>
</file>

<file path=customXml/item14.xml><?xml version="1.0" encoding="utf-8"?>
<DcR_SlideID>fa6d3742-639f-4cc7-80fe-19fa69c4cf2d</DcR_SlideID>
</file>

<file path=customXml/item15.xml><?xml version="1.0" encoding="utf-8"?>
<DcR_SlideID>8d5a9dc7-1715-4434-9022-a17e7b6a5b33</DcR_SlideID>
</file>

<file path=customXml/itemProps1.xml><?xml version="1.0" encoding="utf-8"?>
<ds:datastoreItem xmlns:ds="http://schemas.openxmlformats.org/officeDocument/2006/customXml" ds:itemID="{08BF89C7-F0EA-4050-AB68-73FC5517643A}">
  <ds:schemaRefs/>
</ds:datastoreItem>
</file>

<file path=customXml/itemProps2.xml><?xml version="1.0" encoding="utf-8"?>
<ds:datastoreItem xmlns:ds="http://schemas.openxmlformats.org/officeDocument/2006/customXml" ds:itemID="{FD15699D-69E7-4433-94CA-4E28F4D00523}">
  <ds:schemaRefs/>
</ds:datastoreItem>
</file>

<file path=customXml/itemProps3.xml><?xml version="1.0" encoding="utf-8"?>
<ds:datastoreItem xmlns:ds="http://schemas.openxmlformats.org/officeDocument/2006/customXml" ds:itemID="{55946C91-894C-42BF-98A8-0A8A20C5BFED}">
  <ds:schemaRefs/>
</ds:datastoreItem>
</file>

<file path=customXml/itemProps4.xml><?xml version="1.0" encoding="utf-8"?>
<ds:datastoreItem xmlns:ds="http://schemas.openxmlformats.org/officeDocument/2006/customXml" ds:itemID="{8C85BC69-892F-456B-8935-A03C4C539401}">
  <ds:schemaRefs/>
</ds:datastoreItem>
</file>

<file path=customXml/itemProps5.xml><?xml version="1.0" encoding="utf-8"?>
<ds:datastoreItem xmlns:ds="http://schemas.openxmlformats.org/officeDocument/2006/customXml" ds:itemID="{D5737255-1923-404F-9248-8DAE3D85D9AB}">
  <ds:schemaRefs/>
</ds:datastoreItem>
</file>

<file path=customXml/itemProps6.xml><?xml version="1.0" encoding="utf-8"?>
<ds:datastoreItem xmlns:ds="http://schemas.openxmlformats.org/officeDocument/2006/customXml" ds:itemID="{F9D1F46A-149B-4CD2-9E73-4B109F6E5414}">
  <ds:schemaRefs/>
</ds:datastoreItem>
</file>

<file path=customXml/itemProps7.xml><?xml version="1.0" encoding="utf-8"?>
<ds:datastoreItem xmlns:ds="http://schemas.openxmlformats.org/officeDocument/2006/customXml" ds:itemID="{2D54C72C-DD8E-40F8-8473-B0988EFA861F}">
  <ds:schemaRefs/>
</ds:datastoreItem>
</file>

<file path=customXml/itemProps8.xml><?xml version="1.0" encoding="utf-8"?>
<ds:datastoreItem xmlns:ds="http://schemas.openxmlformats.org/officeDocument/2006/customXml" ds:itemID="{88BE92CA-2C2B-4D71-8D38-D28322FBC650}">
  <ds:schemaRefs/>
</ds:datastoreItem>
</file>

<file path=customXml/itemProps9.xml><?xml version="1.0" encoding="utf-8"?>
<ds:datastoreItem xmlns:ds="http://schemas.openxmlformats.org/officeDocument/2006/customXml" ds:itemID="{546A9C25-981A-4DAC-91F3-02B26D9A2BBA}">
  <ds:schemaRefs/>
</ds:datastoreItem>
</file>

<file path=customXml/itemProps10.xml><?xml version="1.0" encoding="utf-8"?>
<ds:datastoreItem xmlns:ds="http://schemas.openxmlformats.org/officeDocument/2006/customXml" ds:itemID="{015C4DA8-B776-4114-8B29-FD55E4D6AE2A}">
  <ds:schemaRefs/>
</ds:datastoreItem>
</file>

<file path=customXml/itemProps11.xml><?xml version="1.0" encoding="utf-8"?>
<ds:datastoreItem xmlns:ds="http://schemas.openxmlformats.org/officeDocument/2006/customXml" ds:itemID="{4F9312E9-1640-4FDD-9B98-A6DD40FD6F38}">
  <ds:schemaRefs/>
</ds:datastoreItem>
</file>

<file path=customXml/itemProps12.xml><?xml version="1.0" encoding="utf-8"?>
<ds:datastoreItem xmlns:ds="http://schemas.openxmlformats.org/officeDocument/2006/customXml" ds:itemID="{AC94B001-F2B5-4D26-9847-0F07CF0D941A}">
  <ds:schemaRefs/>
</ds:datastoreItem>
</file>

<file path=customXml/itemProps13.xml><?xml version="1.0" encoding="utf-8"?>
<ds:datastoreItem xmlns:ds="http://schemas.openxmlformats.org/officeDocument/2006/customXml" ds:itemID="{DF34AFFF-01A9-4381-BD64-4DBE20EC9A1A}">
  <ds:schemaRefs/>
</ds:datastoreItem>
</file>

<file path=customXml/itemProps14.xml><?xml version="1.0" encoding="utf-8"?>
<ds:datastoreItem xmlns:ds="http://schemas.openxmlformats.org/officeDocument/2006/customXml" ds:itemID="{290CBDF9-3A31-46D0-8E93-A97C7FED3DE4}">
  <ds:schemaRefs/>
</ds:datastoreItem>
</file>

<file path=customXml/itemProps15.xml><?xml version="1.0" encoding="utf-8"?>
<ds:datastoreItem xmlns:ds="http://schemas.openxmlformats.org/officeDocument/2006/customXml" ds:itemID="{53D42DF2-CB35-40F0-AAD4-5EE2E937D73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1532</Words>
  <Application>Microsoft Office PowerPoint</Application>
  <PresentationFormat>Widescreen</PresentationFormat>
  <Paragraphs>1082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Office Theme</vt:lpstr>
      <vt:lpstr>1_PwC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Kandpal (IN)</dc:creator>
  <cp:lastModifiedBy>Akash Shrivastava</cp:lastModifiedBy>
  <cp:revision>4</cp:revision>
  <dcterms:created xsi:type="dcterms:W3CDTF">2026-09-10T09:56:46Z</dcterms:created>
  <dcterms:modified xsi:type="dcterms:W3CDTF">2026-09-15T05:49:51Z</dcterms:modified>
</cp:coreProperties>
</file>